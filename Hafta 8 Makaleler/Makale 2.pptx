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6641E3EE-19C6-459F-8772-6082ED09A5B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9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A23720DD-5B6D-40BF-8493-A6B52D484E6B}" type="datetimeFigureOut">
              <a:rPr lang="tr-TR" smtClean="0"/>
              <a:t>11.12.2022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755576" y="4365104"/>
            <a:ext cx="7543800" cy="1524000"/>
          </a:xfrm>
        </p:spPr>
        <p:txBody>
          <a:bodyPr/>
          <a:lstStyle/>
          <a:p>
            <a:r>
              <a:rPr lang="tr-TR" sz="6000" dirty="0"/>
              <a:t>Görüntü </a:t>
            </a:r>
            <a:r>
              <a:rPr lang="tr-TR" sz="6000" dirty="0" smtClean="0"/>
              <a:t>İşleme Teknikleri </a:t>
            </a:r>
            <a:r>
              <a:rPr lang="tr-TR" sz="6000" dirty="0"/>
              <a:t>v</a:t>
            </a:r>
            <a:r>
              <a:rPr lang="tr-TR" sz="6000" dirty="0" smtClean="0"/>
              <a:t>e Kümeleme Yöntemleri Kullanılarak Fındık Meyvesinin Tespit </a:t>
            </a:r>
            <a:r>
              <a:rPr lang="tr-TR" sz="6000" dirty="0"/>
              <a:t>ve </a:t>
            </a:r>
            <a:r>
              <a:rPr lang="tr-TR" sz="6000" dirty="0" smtClean="0"/>
              <a:t>Sınıflandırılması</a:t>
            </a:r>
            <a:endParaRPr lang="tr-TR" sz="6000" dirty="0"/>
          </a:p>
        </p:txBody>
      </p:sp>
    </p:spTree>
    <p:extLst>
      <p:ext uri="{BB962C8B-B14F-4D97-AF65-F5344CB8AC3E}">
        <p14:creationId xmlns:p14="http://schemas.microsoft.com/office/powerpoint/2010/main" val="97626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I. ÖZET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Ortamda bulunan nesnelerin gerçek zamanlı olarak tespit edilmesi, sınıflandırılması amaçlanmıştır.</a:t>
            </a:r>
          </a:p>
          <a:p>
            <a:r>
              <a:rPr lang="tr-TR" dirty="0" smtClean="0"/>
              <a:t>Örnek olarak fındık meyvesi kullanılmıştır.</a:t>
            </a:r>
          </a:p>
          <a:p>
            <a:r>
              <a:rPr lang="tr-TR" dirty="0" smtClean="0"/>
              <a:t>Fındık görüntüsü alınarak üzerinde görüntü işleme teknikleri uygulanarak boyut ve kapladıkları alan gibi veriler elde edilmiştir.</a:t>
            </a:r>
          </a:p>
          <a:p>
            <a:r>
              <a:rPr lang="tr-TR" dirty="0" smtClean="0"/>
              <a:t>Fındık boyut sınıflandırması şu şekildedir: </a:t>
            </a:r>
          </a:p>
          <a:p>
            <a:pPr marL="0" indent="0">
              <a:buNone/>
            </a:pPr>
            <a:r>
              <a:rPr lang="tr-TR" dirty="0"/>
              <a:t> </a:t>
            </a:r>
            <a:r>
              <a:rPr lang="tr-TR" dirty="0" smtClean="0"/>
              <a:t>   K1: Küçük		K2: Orta	    K3:Büyük</a:t>
            </a:r>
          </a:p>
          <a:p>
            <a:pPr marL="0" indent="0">
              <a:buNone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91494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I.GİRİŞ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404664"/>
            <a:ext cx="6192688" cy="4824536"/>
          </a:xfrm>
        </p:spPr>
        <p:txBody>
          <a:bodyPr>
            <a:normAutofit/>
          </a:bodyPr>
          <a:lstStyle/>
          <a:p>
            <a:r>
              <a:rPr lang="tr-TR" dirty="0" smtClean="0"/>
              <a:t>Makalede, çalışma ortamında bulunan nesnelerin tespit edilmesi, özelliklerinin belirlenmesi ve sınıflandırmalarının yapılması için 3 aşamalı bir sistem önerilmiştir.</a:t>
            </a:r>
          </a:p>
          <a:p>
            <a:r>
              <a:rPr lang="tr-TR" dirty="0" smtClean="0"/>
              <a:t>1. Aşamada, alınan görüntü üzerinde ön işleme işlemleri uygulanmıştır.</a:t>
            </a:r>
          </a:p>
          <a:p>
            <a:r>
              <a:rPr lang="tr-TR" dirty="0" smtClean="0"/>
              <a:t>2. Aşamada, nesneler tespit edilip, nesne özellikleri </a:t>
            </a:r>
            <a:r>
              <a:rPr lang="tr-TR" dirty="0" err="1" smtClean="0"/>
              <a:t>veritabanına</a:t>
            </a:r>
            <a:r>
              <a:rPr lang="tr-TR" dirty="0" smtClean="0"/>
              <a:t> aktarılmıştır.</a:t>
            </a:r>
          </a:p>
          <a:p>
            <a:r>
              <a:rPr lang="tr-TR" dirty="0" smtClean="0"/>
              <a:t>3. Aşamada, </a:t>
            </a:r>
            <a:r>
              <a:rPr lang="tr-TR" dirty="0" err="1" smtClean="0"/>
              <a:t>veritabanı</a:t>
            </a:r>
            <a:r>
              <a:rPr lang="tr-TR" dirty="0" smtClean="0"/>
              <a:t> kullanılarak nesneler </a:t>
            </a:r>
            <a:r>
              <a:rPr lang="tr-TR" dirty="0" err="1" smtClean="0"/>
              <a:t>sınflandırılmıştır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4" name="Picture 2" descr="C:\Users\Monster\Pictures\Screenshots\Ekran Görüntüsü (16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866" y="692695"/>
            <a:ext cx="2447097" cy="352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45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II. Metot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620688"/>
            <a:ext cx="6336704" cy="4752528"/>
          </a:xfrm>
        </p:spPr>
        <p:txBody>
          <a:bodyPr>
            <a:normAutofit lnSpcReduction="10000"/>
          </a:bodyPr>
          <a:lstStyle/>
          <a:p>
            <a:r>
              <a:rPr lang="tr-TR" dirty="0" smtClean="0"/>
              <a:t>Ön işleme aşamasında sırasıyla:</a:t>
            </a:r>
          </a:p>
          <a:p>
            <a:pPr marL="320040" lvl="1" indent="0">
              <a:buNone/>
            </a:pPr>
            <a:r>
              <a:rPr lang="tr-TR" dirty="0" smtClean="0"/>
              <a:t>Filtreleme </a:t>
            </a:r>
            <a:r>
              <a:rPr lang="tr-TR" dirty="0"/>
              <a:t>– Gri dönüşüm – </a:t>
            </a:r>
            <a:r>
              <a:rPr lang="tr-TR" dirty="0" err="1" smtClean="0"/>
              <a:t>Eşikleme</a:t>
            </a:r>
            <a:endParaRPr lang="tr-TR" dirty="0"/>
          </a:p>
          <a:p>
            <a:r>
              <a:rPr lang="tr-TR" dirty="0" smtClean="0"/>
              <a:t>Filtreleme aşamasında, gürültü ve </a:t>
            </a:r>
          </a:p>
          <a:p>
            <a:pPr marL="0" indent="0">
              <a:buNone/>
            </a:pPr>
            <a:r>
              <a:rPr lang="tr-TR" dirty="0" smtClean="0"/>
              <a:t>gereksiz ayrıntıların giderilmesi sağlanmıştır. </a:t>
            </a:r>
          </a:p>
          <a:p>
            <a:pPr marL="0" indent="0">
              <a:buNone/>
            </a:pPr>
            <a:r>
              <a:rPr lang="tr-TR" dirty="0" smtClean="0"/>
              <a:t>3x3 boyutlarında bir çekirdek matris ve yöntem olarak ortalama filtreleme kullanılmıştır.</a:t>
            </a:r>
            <a:endParaRPr lang="tr-TR" dirty="0"/>
          </a:p>
          <a:p>
            <a:r>
              <a:rPr lang="tr-TR" dirty="0" smtClean="0"/>
              <a:t>Daha sonra yeni görüntüye gri seviye dönüşümü uygulanmıştır.</a:t>
            </a:r>
          </a:p>
          <a:p>
            <a:r>
              <a:rPr lang="tr-TR" dirty="0" smtClean="0"/>
              <a:t>Gri görüntüye </a:t>
            </a:r>
            <a:r>
              <a:rPr lang="tr-TR" dirty="0" err="1" smtClean="0"/>
              <a:t>eşikleme</a:t>
            </a:r>
            <a:r>
              <a:rPr lang="tr-TR" dirty="0" smtClean="0"/>
              <a:t> işlemi uygulanmıştır.</a:t>
            </a:r>
          </a:p>
          <a:p>
            <a:r>
              <a:rPr lang="tr-TR" dirty="0" smtClean="0"/>
              <a:t>Elde edilen </a:t>
            </a:r>
            <a:r>
              <a:rPr lang="tr-TR" dirty="0" err="1" smtClean="0"/>
              <a:t>binary</a:t>
            </a:r>
            <a:r>
              <a:rPr lang="tr-TR" dirty="0" smtClean="0"/>
              <a:t> görüntü üzerindeki gereksiz beyaz noktaların giderilmesi için morfolojik işlem uygulanmıştır. (</a:t>
            </a:r>
            <a:r>
              <a:rPr lang="tr-TR" dirty="0" err="1" smtClean="0"/>
              <a:t>erode-dilate</a:t>
            </a:r>
            <a:r>
              <a:rPr lang="tr-TR" dirty="0" smtClean="0"/>
              <a:t>)</a:t>
            </a:r>
          </a:p>
          <a:p>
            <a:endParaRPr lang="tr-TR" dirty="0" smtClean="0"/>
          </a:p>
        </p:txBody>
      </p:sp>
      <p:pic>
        <p:nvPicPr>
          <p:cNvPr id="1027" name="Picture 3" descr="C:\Users\Monster\Pictures\Screenshots\Ekran Görüntüsü (16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980728"/>
            <a:ext cx="2827039" cy="365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15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542562"/>
            <a:ext cx="6264696" cy="5472608"/>
          </a:xfrm>
        </p:spPr>
        <p:txBody>
          <a:bodyPr/>
          <a:lstStyle/>
          <a:p>
            <a:r>
              <a:rPr lang="tr-TR" dirty="0" smtClean="0"/>
              <a:t>Nesne bulma aşamasında, sağda yer ve ön işleme aşamasının sonucu olarak ortaya çıkmış olan görsel üzerinden işlemlere devam edilmektedir.</a:t>
            </a:r>
          </a:p>
          <a:p>
            <a:r>
              <a:rPr lang="tr-TR" dirty="0" smtClean="0"/>
              <a:t>İşlenmiş </a:t>
            </a:r>
            <a:r>
              <a:rPr lang="tr-TR" dirty="0" err="1" smtClean="0"/>
              <a:t>binary</a:t>
            </a:r>
            <a:r>
              <a:rPr lang="tr-TR" dirty="0" smtClean="0"/>
              <a:t> görüntüde her </a:t>
            </a:r>
            <a:r>
              <a:rPr lang="tr-TR" dirty="0"/>
              <a:t>bir nesneye ait dış hatlar, Suzuki ve </a:t>
            </a:r>
            <a:r>
              <a:rPr lang="tr-TR" dirty="0" err="1"/>
              <a:t>Abe</a:t>
            </a:r>
            <a:r>
              <a:rPr lang="tr-TR" dirty="0"/>
              <a:t> tarafından 1985 yılında geliştirilmiş olan algoritma kullanılarak </a:t>
            </a:r>
            <a:r>
              <a:rPr lang="tr-TR" dirty="0" smtClean="0"/>
              <a:t>bulunmuştur. </a:t>
            </a:r>
          </a:p>
          <a:p>
            <a:r>
              <a:rPr lang="tr-TR" dirty="0" smtClean="0"/>
              <a:t>Dış hatlar ve nesne numaraları belirlendikten sonra nesne alanı hesabı için, formülü sağda yer alan ‘moment alma’ işlemi uygulanmıştır.</a:t>
            </a:r>
          </a:p>
          <a:p>
            <a:endParaRPr lang="tr-TR" dirty="0"/>
          </a:p>
        </p:txBody>
      </p:sp>
      <p:pic>
        <p:nvPicPr>
          <p:cNvPr id="2050" name="Picture 2" descr="C:\Users\Monster\Pictures\Screenshots\Ekran Görüntüsü (164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725" y="692696"/>
            <a:ext cx="2675666" cy="317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Monster\Pictures\Screenshots\Ekran Görüntüsü (166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384" y="4365104"/>
            <a:ext cx="28003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227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62000" y="685800"/>
            <a:ext cx="7842448" cy="5767536"/>
          </a:xfrm>
        </p:spPr>
        <p:txBody>
          <a:bodyPr>
            <a:noAutofit/>
          </a:bodyPr>
          <a:lstStyle/>
          <a:p>
            <a:r>
              <a:rPr lang="tr-TR" sz="2200" dirty="0" smtClean="0"/>
              <a:t>Sınıflandırma aşamasında, kümeleme, fiziksel veya soyut nesneleri benzer nesne sınıfları içerisinde gruplama işlemleri uygulanmıştır.</a:t>
            </a:r>
          </a:p>
          <a:p>
            <a:r>
              <a:rPr lang="tr-TR" sz="2200" dirty="0"/>
              <a:t>Veri kümeleme, küme analizi olarak da tanımlanmaktadır. Kümeleme analizinde desen, nokta veya nesnelerin doğal olarak gruplandırılması yapılmaktadır. Kümeleme analizi ile çok değişkenli özellikler içeren veriler </a:t>
            </a:r>
            <a:r>
              <a:rPr lang="tr-TR" sz="2200" dirty="0" err="1"/>
              <a:t>kümelendirilebilmektedir</a:t>
            </a:r>
            <a:r>
              <a:rPr lang="tr-TR" sz="2200" dirty="0" smtClean="0"/>
              <a:t>.</a:t>
            </a:r>
          </a:p>
          <a:p>
            <a:r>
              <a:rPr lang="tr-TR" sz="2200" dirty="0"/>
              <a:t>Kümeleme yöntemi örüntü tanıma, veri analizi, görüntü işleme, market </a:t>
            </a:r>
            <a:r>
              <a:rPr lang="tr-TR" sz="2200" dirty="0" smtClean="0"/>
              <a:t>araştırmaları </a:t>
            </a:r>
            <a:r>
              <a:rPr lang="tr-TR" sz="2200" dirty="0"/>
              <a:t>gibi çeşitli alanlarda kullanılmaktadır</a:t>
            </a:r>
            <a:r>
              <a:rPr lang="tr-TR" sz="2200" dirty="0" smtClean="0"/>
              <a:t>.</a:t>
            </a:r>
          </a:p>
          <a:p>
            <a:r>
              <a:rPr lang="tr-TR" sz="2200" dirty="0" smtClean="0"/>
              <a:t>Bu çalışmada nesneler, alan, çap, yarıçap, genişlik, yükseklik gibi özellikler ile sınıflandırılmıştır.</a:t>
            </a:r>
          </a:p>
          <a:p>
            <a:r>
              <a:rPr lang="tr-TR" sz="2200" dirty="0" smtClean="0"/>
              <a:t>İki farklı kümeleme yöntemi önerilmektedir:</a:t>
            </a:r>
          </a:p>
          <a:p>
            <a:pPr marL="0" indent="0">
              <a:buNone/>
            </a:pPr>
            <a:r>
              <a:rPr lang="tr-TR" sz="2200" dirty="0"/>
              <a:t>	</a:t>
            </a:r>
            <a:r>
              <a:rPr lang="tr-TR" sz="2200" dirty="0" smtClean="0"/>
              <a:t>1. Ortalama Tabanlı Sınıflandırma</a:t>
            </a:r>
          </a:p>
          <a:p>
            <a:pPr marL="0" indent="0">
              <a:buNone/>
            </a:pPr>
            <a:r>
              <a:rPr lang="tr-TR" sz="2200" dirty="0"/>
              <a:t>	</a:t>
            </a:r>
            <a:r>
              <a:rPr lang="tr-TR" sz="2200" dirty="0" smtClean="0"/>
              <a:t>2. K-</a:t>
            </a:r>
            <a:r>
              <a:rPr lang="tr-TR" sz="2200" dirty="0" err="1" smtClean="0"/>
              <a:t>means</a:t>
            </a:r>
            <a:r>
              <a:rPr lang="tr-TR" sz="2200" dirty="0" smtClean="0"/>
              <a:t> Kümeleme Yöntemi</a:t>
            </a: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422627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 smtClean="0"/>
              <a:t>Ortalama Tabanlı Sınıflandırma</a:t>
            </a:r>
            <a:endParaRPr lang="tr-TR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417612"/>
            <a:ext cx="7543800" cy="4759424"/>
          </a:xfrm>
        </p:spPr>
        <p:txBody>
          <a:bodyPr/>
          <a:lstStyle/>
          <a:p>
            <a:r>
              <a:rPr lang="tr-TR" dirty="0" smtClean="0"/>
              <a:t>Küme merkezleri (K1-K2-K3) hesaplanırken kullanılan denklemler görünmektedir.</a:t>
            </a:r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1026" name="Picture 2" descr="C:\Users\Monster\Pictures\Screenshots\Ekran Görüntüsü (168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13" y="2910960"/>
            <a:ext cx="6183312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Monster\Pictures\Screenshots\Ekran Görüntüsü (169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63" y="1844824"/>
            <a:ext cx="6145212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Monster\Pictures\Screenshots\Ekran Görüntüsü (170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87" y="4084792"/>
            <a:ext cx="6173788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6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 smtClean="0"/>
              <a:t>K-</a:t>
            </a:r>
            <a:r>
              <a:rPr lang="tr-TR" sz="3600" dirty="0" err="1" smtClean="0"/>
              <a:t>means</a:t>
            </a:r>
            <a:r>
              <a:rPr lang="tr-TR" sz="3600" dirty="0" smtClean="0"/>
              <a:t> Kümeleme Yöntemi</a:t>
            </a:r>
            <a:endParaRPr lang="tr-TR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N adet veri nesnesinin K adet kümeye bölünmesidir.</a:t>
            </a:r>
          </a:p>
          <a:p>
            <a:r>
              <a:rPr lang="tr-TR" dirty="0" smtClean="0"/>
              <a:t>Bu yöntem, veri nesnelerinin K adet kümeye bölünme işlemini </a:t>
            </a:r>
            <a:r>
              <a:rPr lang="tr-TR" dirty="0" err="1" smtClean="0"/>
              <a:t>karesel</a:t>
            </a:r>
            <a:r>
              <a:rPr lang="tr-TR" dirty="0" smtClean="0"/>
              <a:t> hatayı en aza indirmek için yapmaktadır.</a:t>
            </a:r>
          </a:p>
          <a:p>
            <a:r>
              <a:rPr lang="tr-TR" dirty="0" smtClean="0"/>
              <a:t>Algoritmanın temel amacı, bölümleme işleminin sonucunda elde edilen küme içindeki veri benzerliklerinin en üst, kümeler arası benzerliğin ise en alt seviyede olmasıdır.</a:t>
            </a:r>
          </a:p>
          <a:p>
            <a:r>
              <a:rPr lang="tr-TR" dirty="0" smtClean="0"/>
              <a:t>Algoritmanın çalışma süreci 4 aşamadan meydana gelmektedir.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902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62000" y="404664"/>
            <a:ext cx="5264943" cy="5688632"/>
          </a:xfrm>
        </p:spPr>
        <p:txBody>
          <a:bodyPr/>
          <a:lstStyle/>
          <a:p>
            <a:r>
              <a:rPr lang="tr-TR" dirty="0" smtClean="0"/>
              <a:t>İlk olarak, kümeler için rastgele başlangıç küme merkezleri belirlenmektedir.</a:t>
            </a:r>
          </a:p>
          <a:p>
            <a:r>
              <a:rPr lang="tr-TR" dirty="0" smtClean="0"/>
              <a:t>Sonra nesnelerin, seçilmiş olan küme merkezine olan uzaklıkları hesaplanır ve en yakın kümeye yerleştirilirler.</a:t>
            </a:r>
          </a:p>
          <a:p>
            <a:r>
              <a:rPr lang="tr-TR" dirty="0" smtClean="0"/>
              <a:t>Daha sonra yeni oluşan kümelerin merkezleri, o kümedeki nesnelerin ortalama değerine göre değiştirilir.</a:t>
            </a:r>
          </a:p>
          <a:p>
            <a:r>
              <a:rPr lang="tr-TR" dirty="0" smtClean="0"/>
              <a:t>Son olarak küme merkez noktalarının sabit olup olmadığı kontrol edilir. Eğer sabit değil ise 2. ve 3. adımlar uygulanmaya devam eder. Değil ise algoritma burada sonlandırılır.</a:t>
            </a:r>
            <a:endParaRPr lang="tr-TR" dirty="0"/>
          </a:p>
        </p:txBody>
      </p:sp>
      <p:pic>
        <p:nvPicPr>
          <p:cNvPr id="2050" name="Picture 2" descr="C:\Users\Monster\Pictures\Screenshots\Ekran Görüntüsü (168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43" y="692696"/>
            <a:ext cx="3117057" cy="419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156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5576" y="476672"/>
            <a:ext cx="7543800" cy="3744416"/>
          </a:xfrm>
        </p:spPr>
        <p:txBody>
          <a:bodyPr/>
          <a:lstStyle/>
          <a:p>
            <a:r>
              <a:rPr lang="tr-TR" dirty="0" smtClean="0"/>
              <a:t>Burada kullanılan mesafe ölçüm yöntemleri </a:t>
            </a:r>
            <a:r>
              <a:rPr lang="fi-FI" dirty="0"/>
              <a:t>Euclidean, Manhattan ve Minkowski yöntemleridir</a:t>
            </a:r>
            <a:r>
              <a:rPr lang="fi-FI" dirty="0" smtClean="0"/>
              <a:t>.</a:t>
            </a:r>
            <a:r>
              <a:rPr lang="tr-TR" dirty="0" smtClean="0"/>
              <a:t> Sırası ile denklemleri gösterilmiştir.</a:t>
            </a:r>
          </a:p>
          <a:p>
            <a:endParaRPr lang="tr-TR" dirty="0"/>
          </a:p>
        </p:txBody>
      </p:sp>
      <p:pic>
        <p:nvPicPr>
          <p:cNvPr id="3074" name="Picture 2" descr="C:\Users\Monster\Pictures\Screenshots\Ekran Görüntüsü (170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852936"/>
            <a:ext cx="5745162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01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III. DENEYSEL ÇALIŞMA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1519" y="404664"/>
            <a:ext cx="3990133" cy="4824536"/>
          </a:xfrm>
        </p:spPr>
        <p:txBody>
          <a:bodyPr>
            <a:normAutofit fontScale="92500"/>
          </a:bodyPr>
          <a:lstStyle/>
          <a:p>
            <a:r>
              <a:rPr lang="tr-TR" dirty="0"/>
              <a:t>Çalışmada 1.3 </a:t>
            </a:r>
            <a:r>
              <a:rPr lang="tr-TR" dirty="0" err="1"/>
              <a:t>Megapiksel</a:t>
            </a:r>
            <a:r>
              <a:rPr lang="tr-TR" dirty="0"/>
              <a:t> CMOS, 640 x 480 çözünürlükteki </a:t>
            </a:r>
            <a:r>
              <a:rPr lang="tr-TR" dirty="0" err="1"/>
              <a:t>Logitech</a:t>
            </a:r>
            <a:r>
              <a:rPr lang="tr-TR" dirty="0"/>
              <a:t> C110 USB kamera kullanılarak görüntüler </a:t>
            </a:r>
            <a:r>
              <a:rPr lang="tr-TR" dirty="0" smtClean="0"/>
              <a:t>alınmıştır. </a:t>
            </a:r>
          </a:p>
          <a:p>
            <a:r>
              <a:rPr lang="tr-TR" dirty="0" smtClean="0"/>
              <a:t>Alınan </a:t>
            </a:r>
            <a:r>
              <a:rPr lang="tr-TR" dirty="0"/>
              <a:t>görüntüler, </a:t>
            </a:r>
            <a:r>
              <a:rPr lang="tr-TR" dirty="0" err="1"/>
              <a:t>Ubuntu</a:t>
            </a:r>
            <a:r>
              <a:rPr lang="tr-TR" dirty="0"/>
              <a:t> 12.04 işletim sistemine sahip bir bilgisayar üzerinde </a:t>
            </a:r>
            <a:r>
              <a:rPr lang="tr-TR" dirty="0" smtClean="0"/>
              <a:t>işlenmiştir. </a:t>
            </a:r>
          </a:p>
          <a:p>
            <a:r>
              <a:rPr lang="tr-TR" dirty="0" smtClean="0"/>
              <a:t>Görüntülerin </a:t>
            </a:r>
            <a:r>
              <a:rPr lang="tr-TR" dirty="0"/>
              <a:t>işlenmesi ve sınıflandırılması aşamalarında </a:t>
            </a:r>
            <a:r>
              <a:rPr lang="tr-TR" dirty="0" err="1"/>
              <a:t>OpenCV</a:t>
            </a:r>
            <a:r>
              <a:rPr lang="tr-TR" dirty="0"/>
              <a:t> Kütüphanesi ve </a:t>
            </a:r>
            <a:r>
              <a:rPr lang="tr-TR" dirty="0" err="1"/>
              <a:t>Weka</a:t>
            </a:r>
            <a:r>
              <a:rPr lang="tr-TR" dirty="0"/>
              <a:t> yazılımları </a:t>
            </a:r>
            <a:r>
              <a:rPr lang="tr-TR" dirty="0" smtClean="0"/>
              <a:t>kullanılmıştır.</a:t>
            </a:r>
          </a:p>
        </p:txBody>
      </p:sp>
      <p:pic>
        <p:nvPicPr>
          <p:cNvPr id="4098" name="Picture 2" descr="C:\Users\Monster\Pictures\Screenshots\Ekran Görüntüsü (17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76672"/>
            <a:ext cx="5076056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İçerik Yer Tutucusu 2"/>
          <p:cNvSpPr txBox="1">
            <a:spLocks/>
          </p:cNvSpPr>
          <p:nvPr/>
        </p:nvSpPr>
        <p:spPr>
          <a:xfrm>
            <a:off x="4157700" y="3933056"/>
            <a:ext cx="4896544" cy="86409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95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%100 başarım oranı tespit edilmiştir</a:t>
            </a:r>
          </a:p>
        </p:txBody>
      </p:sp>
    </p:spTree>
    <p:extLst>
      <p:ext uri="{BB962C8B-B14F-4D97-AF65-F5344CB8AC3E}">
        <p14:creationId xmlns:p14="http://schemas.microsoft.com/office/powerpoint/2010/main" val="1743585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IV. SONNUÇLAR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Çalışma ortamında bulunan fındık meyveleri gerçek zamanlı olarak %100 başarımla tespit </a:t>
            </a:r>
            <a:r>
              <a:rPr lang="tr-TR" dirty="0" smtClean="0"/>
              <a:t>edilmiştir.</a:t>
            </a:r>
          </a:p>
          <a:p>
            <a:r>
              <a:rPr lang="tr-TR" dirty="0" smtClean="0"/>
              <a:t> </a:t>
            </a:r>
            <a:r>
              <a:rPr lang="tr-TR" dirty="0"/>
              <a:t>Ortalama tabanlı ve K-</a:t>
            </a:r>
            <a:r>
              <a:rPr lang="tr-TR" dirty="0" err="1"/>
              <a:t>means</a:t>
            </a:r>
            <a:r>
              <a:rPr lang="tr-TR" dirty="0"/>
              <a:t> kümeleme yöntemleri kullanılarak fındık meyvelerinin küçük, orta ve büyük olarak sınıflandırılması </a:t>
            </a:r>
            <a:r>
              <a:rPr lang="tr-TR" dirty="0" smtClean="0"/>
              <a:t>gerçekleştirilmiştir. </a:t>
            </a:r>
          </a:p>
          <a:p>
            <a:r>
              <a:rPr lang="tr-TR" dirty="0" smtClean="0"/>
              <a:t>Yapılan </a:t>
            </a:r>
            <a:r>
              <a:rPr lang="tr-TR" dirty="0"/>
              <a:t>deneysel çalışmalarda, </a:t>
            </a:r>
            <a:r>
              <a:rPr lang="tr-TR" dirty="0" err="1"/>
              <a:t>gerçeklenen</a:t>
            </a:r>
            <a:r>
              <a:rPr lang="tr-TR" dirty="0"/>
              <a:t> iki algoritma ile sınıflandırmanın %90 ile %100 oranlarında benzerlik gösterdiği tespit </a:t>
            </a:r>
            <a:r>
              <a:rPr lang="tr-TR" dirty="0" smtClean="0"/>
              <a:t>edilmiştir. </a:t>
            </a:r>
          </a:p>
          <a:p>
            <a:r>
              <a:rPr lang="tr-TR" dirty="0" smtClean="0"/>
              <a:t>Önerilen </a:t>
            </a:r>
            <a:r>
              <a:rPr lang="tr-TR" dirty="0"/>
              <a:t>yöntem, açık kaynak kodlu yazılımlarla gerçekleştirildiğinden lisans maliyeti bulunmamaktadır.</a:t>
            </a:r>
          </a:p>
        </p:txBody>
      </p:sp>
    </p:spTree>
    <p:extLst>
      <p:ext uri="{BB962C8B-B14F-4D97-AF65-F5344CB8AC3E}">
        <p14:creationId xmlns:p14="http://schemas.microsoft.com/office/powerpoint/2010/main" val="2880570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157</TotalTime>
  <Words>626</Words>
  <Application>Microsoft Office PowerPoint</Application>
  <PresentationFormat>Ekran Gösterisi (4:3)</PresentationFormat>
  <Paragraphs>58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NewsPrint</vt:lpstr>
      <vt:lpstr>Görüntü İşleme Teknikleri ve Kümeleme Yöntemleri Kullanılarak Fındık Meyvesinin Tespit ve Sınıflandırılması</vt:lpstr>
      <vt:lpstr>I. ÖZET</vt:lpstr>
      <vt:lpstr>I.GİRİŞ</vt:lpstr>
      <vt:lpstr>II. Metot</vt:lpstr>
      <vt:lpstr>PowerPoint Sunusu</vt:lpstr>
      <vt:lpstr>PowerPoint Sunusu</vt:lpstr>
      <vt:lpstr>Ortalama Tabanlı Sınıflandırma</vt:lpstr>
      <vt:lpstr>K-means Kümeleme Yöntemi</vt:lpstr>
      <vt:lpstr>PowerPoint Sunusu</vt:lpstr>
      <vt:lpstr>PowerPoint Sunusu</vt:lpstr>
      <vt:lpstr>III. DENEYSEL ÇALIŞMA</vt:lpstr>
      <vt:lpstr>IV. SONNUÇLAR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Görüntü İşleme Teknikleri ve Kümeleme Yöntemleri Kullanılarak Fındık Meyvesinin Tespit ve Sınıflandırılması</dc:title>
  <dc:creator>Emrah ERTAN</dc:creator>
  <cp:lastModifiedBy>Monster</cp:lastModifiedBy>
  <cp:revision>25</cp:revision>
  <dcterms:created xsi:type="dcterms:W3CDTF">2022-12-09T12:39:00Z</dcterms:created>
  <dcterms:modified xsi:type="dcterms:W3CDTF">2022-12-11T08:07:28Z</dcterms:modified>
</cp:coreProperties>
</file>