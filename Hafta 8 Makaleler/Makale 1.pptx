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1099"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tr-TR" smtClean="0"/>
              <a:t>Asıl başlık stili için tıklatın</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9.12.2022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9.12.2022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tr-TR" smtClean="0"/>
              <a:t>Asıl başlık stili için tıklatın</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23720DD-5B6D-40BF-8493-A6B52D484E6B}" type="datetimeFigureOut">
              <a:rPr lang="tr-TR" smtClean="0"/>
              <a:t>9.12.2022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Date Placeholder 4"/>
          <p:cNvSpPr>
            <a:spLocks noGrp="1"/>
          </p:cNvSpPr>
          <p:nvPr>
            <p:ph type="dt" sz="half" idx="10"/>
          </p:nvPr>
        </p:nvSpPr>
        <p:spPr/>
        <p:txBody>
          <a:bodyPr/>
          <a:lstStyle/>
          <a:p>
            <a:fld id="{A23720DD-5B6D-40BF-8493-A6B52D484E6B}" type="datetimeFigureOut">
              <a:rPr lang="tr-TR" smtClean="0"/>
              <a:t>9.12.2022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fld id="{A23720DD-5B6D-40BF-8493-A6B52D484E6B}" type="datetimeFigureOut">
              <a:rPr lang="tr-TR" smtClean="0"/>
              <a:t>9.12.2022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9.12.2022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9.12.2022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tr-TR" smtClean="0"/>
              <a:t>Asıl başlık stili için tıklatın</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9.12.2022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tr-TR" smtClean="0"/>
              <a:t>Asıl başlık stili için tıklatın</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9.12.2022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9.12.2022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9.12.2022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A23720DD-5B6D-40BF-8493-A6B52D484E6B}" type="datetimeFigureOut">
              <a:rPr lang="tr-TR" smtClean="0"/>
              <a:t>9.12.2022</a:t>
            </a:fld>
            <a:endParaRPr lang="tr-TR"/>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tr-TR"/>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F302176B-0E47-46AC-8F43-DAB4B8A37D06}" type="slidenum">
              <a:rPr lang="tr-TR" smtClean="0"/>
              <a:t>‹#›</a:t>
            </a:fld>
            <a:endParaRPr lang="tr-TR"/>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971600" y="5085184"/>
            <a:ext cx="6192688" cy="926847"/>
          </a:xfrm>
        </p:spPr>
        <p:txBody>
          <a:bodyPr/>
          <a:lstStyle/>
          <a:p>
            <a:r>
              <a:rPr lang="tr-TR" sz="6600" dirty="0" smtClean="0"/>
              <a:t>Retina Kan Damarlarını Çıkarmak İçin </a:t>
            </a:r>
            <a:r>
              <a:rPr lang="tr-TR" sz="6600" dirty="0" err="1" smtClean="0"/>
              <a:t>Eşikleme</a:t>
            </a:r>
            <a:r>
              <a:rPr lang="tr-TR" sz="6600" dirty="0" smtClean="0"/>
              <a:t> Temelli Morfolojik Yöntem</a:t>
            </a:r>
            <a:endParaRPr lang="tr-TR" sz="6600" dirty="0"/>
          </a:p>
        </p:txBody>
      </p:sp>
    </p:spTree>
    <p:extLst>
      <p:ext uri="{BB962C8B-B14F-4D97-AF65-F5344CB8AC3E}">
        <p14:creationId xmlns:p14="http://schemas.microsoft.com/office/powerpoint/2010/main" val="3177115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I. ÖZET</a:t>
            </a:r>
            <a:endParaRPr lang="tr-TR" dirty="0"/>
          </a:p>
        </p:txBody>
      </p:sp>
      <p:sp>
        <p:nvSpPr>
          <p:cNvPr id="3" name="İçerik Yer Tutucusu 2"/>
          <p:cNvSpPr>
            <a:spLocks noGrp="1"/>
          </p:cNvSpPr>
          <p:nvPr>
            <p:ph idx="1"/>
          </p:nvPr>
        </p:nvSpPr>
        <p:spPr/>
        <p:txBody>
          <a:bodyPr>
            <a:normAutofit fontScale="92500" lnSpcReduction="10000"/>
          </a:bodyPr>
          <a:lstStyle/>
          <a:p>
            <a:r>
              <a:rPr lang="tr-TR" dirty="0" smtClean="0"/>
              <a:t>Bu makalede diyabete bağlı retina hastalığı körlüğün önüne geçebilmek için, retina ağ yapısını </a:t>
            </a:r>
            <a:r>
              <a:rPr lang="tr-TR" dirty="0" err="1" smtClean="0"/>
              <a:t>bölütleyebilmek</a:t>
            </a:r>
            <a:r>
              <a:rPr lang="tr-TR" dirty="0" smtClean="0"/>
              <a:t> gerekmektedir.</a:t>
            </a:r>
          </a:p>
          <a:p>
            <a:r>
              <a:rPr lang="tr-TR" dirty="0" smtClean="0"/>
              <a:t>Retina ağ yapısını </a:t>
            </a:r>
            <a:r>
              <a:rPr lang="tr-TR" dirty="0" err="1" smtClean="0"/>
              <a:t>bölütleyebilmek</a:t>
            </a:r>
            <a:r>
              <a:rPr lang="tr-TR" dirty="0" smtClean="0"/>
              <a:t> için morfolojik işlemlere dayalı bir yöntem uygulanmıştır.</a:t>
            </a:r>
          </a:p>
          <a:p>
            <a:r>
              <a:rPr lang="tr-TR" dirty="0" err="1" smtClean="0"/>
              <a:t>Fundus</a:t>
            </a:r>
            <a:r>
              <a:rPr lang="tr-TR" dirty="0" smtClean="0"/>
              <a:t> görüntüsüne 3 farklı </a:t>
            </a:r>
            <a:r>
              <a:rPr lang="tr-TR" dirty="0" err="1" smtClean="0"/>
              <a:t>eşikleme</a:t>
            </a:r>
            <a:r>
              <a:rPr lang="tr-TR" dirty="0" smtClean="0"/>
              <a:t> yöntemi uygulanmıştır. (Çoklu </a:t>
            </a:r>
            <a:r>
              <a:rPr lang="tr-TR" dirty="0" err="1" smtClean="0"/>
              <a:t>Eşikleme</a:t>
            </a:r>
            <a:r>
              <a:rPr lang="tr-TR" dirty="0" smtClean="0"/>
              <a:t> - Maksimum </a:t>
            </a:r>
            <a:r>
              <a:rPr lang="tr-TR" dirty="0" err="1" smtClean="0"/>
              <a:t>Entropi</a:t>
            </a:r>
            <a:r>
              <a:rPr lang="tr-TR" dirty="0" smtClean="0"/>
              <a:t> Tabanlı </a:t>
            </a:r>
            <a:r>
              <a:rPr lang="tr-TR" dirty="0" err="1" smtClean="0"/>
              <a:t>Eşikleme</a:t>
            </a:r>
            <a:r>
              <a:rPr lang="tr-TR" dirty="0" smtClean="0"/>
              <a:t> – Bulanık Kümeleme Tabanlı </a:t>
            </a:r>
            <a:r>
              <a:rPr lang="tr-TR" dirty="0" err="1" smtClean="0"/>
              <a:t>Eşikleme</a:t>
            </a:r>
            <a:r>
              <a:rPr lang="tr-TR" dirty="0" smtClean="0"/>
              <a:t>)</a:t>
            </a:r>
          </a:p>
          <a:p>
            <a:r>
              <a:rPr lang="tr-TR" b="1" dirty="0" smtClean="0"/>
              <a:t>Makale Amaç : </a:t>
            </a:r>
            <a:r>
              <a:rPr lang="tr-TR" dirty="0" smtClean="0"/>
              <a:t>Farklı </a:t>
            </a:r>
            <a:r>
              <a:rPr lang="tr-TR" dirty="0" err="1" smtClean="0"/>
              <a:t>eşikleme</a:t>
            </a:r>
            <a:r>
              <a:rPr lang="tr-TR" dirty="0" smtClean="0"/>
              <a:t> algoritmalarının aynı görüntüler üzerindeki performanslarının karşılaştırılmasını yapmaktır.</a:t>
            </a:r>
            <a:endParaRPr lang="tr-TR" b="1" dirty="0" smtClean="0"/>
          </a:p>
        </p:txBody>
      </p:sp>
    </p:spTree>
    <p:extLst>
      <p:ext uri="{BB962C8B-B14F-4D97-AF65-F5344CB8AC3E}">
        <p14:creationId xmlns:p14="http://schemas.microsoft.com/office/powerpoint/2010/main" val="332816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II. GİRİŞ</a:t>
            </a:r>
            <a:endParaRPr lang="tr-TR" dirty="0"/>
          </a:p>
        </p:txBody>
      </p:sp>
      <p:sp>
        <p:nvSpPr>
          <p:cNvPr id="3" name="İçerik Yer Tutucusu 2"/>
          <p:cNvSpPr>
            <a:spLocks noGrp="1"/>
          </p:cNvSpPr>
          <p:nvPr>
            <p:ph idx="1"/>
          </p:nvPr>
        </p:nvSpPr>
        <p:spPr/>
        <p:txBody>
          <a:bodyPr>
            <a:normAutofit fontScale="92500" lnSpcReduction="10000"/>
          </a:bodyPr>
          <a:lstStyle/>
          <a:p>
            <a:r>
              <a:rPr lang="tr-TR" dirty="0" smtClean="0"/>
              <a:t>Diyabetik </a:t>
            </a:r>
            <a:r>
              <a:rPr lang="tr-TR" dirty="0" err="1" smtClean="0"/>
              <a:t>Retinopati</a:t>
            </a:r>
            <a:r>
              <a:rPr lang="tr-TR" dirty="0" smtClean="0"/>
              <a:t> (DR), diyabete bağlı bir retina bozukluğu olan ve körlüğe sebebiyet veren çok kritik bir hastalıktır.</a:t>
            </a:r>
          </a:p>
          <a:p>
            <a:r>
              <a:rPr lang="tr-TR" dirty="0" smtClean="0"/>
              <a:t>Kişide görme yetisinin kaybolmaması için erken teşhis çok önem arz etmektedir.</a:t>
            </a:r>
          </a:p>
          <a:p>
            <a:r>
              <a:rPr lang="tr-TR" dirty="0" smtClean="0"/>
              <a:t>Erken ve doğru teşhis için bilgisayar destekli sistemler geliştirilmiştir. Problemin çözümü için ise derin öğrenme yöntemleri önerilmiştir. Çok daha sağlam sonuçlar verebiliyor olmasına karşılık, donanım bağlılığı gerektirdiğinden, ayrıca geleneksel yöntemlerin daha hızlı ve anlaşılır olmasından dolayı bu çalışmada geleneksel yöntemlerden biri olan Morfolojik Yöntemler kullanılmıştır.</a:t>
            </a:r>
            <a:endParaRPr lang="tr-TR" dirty="0"/>
          </a:p>
        </p:txBody>
      </p:sp>
    </p:spTree>
    <p:extLst>
      <p:ext uri="{BB962C8B-B14F-4D97-AF65-F5344CB8AC3E}">
        <p14:creationId xmlns:p14="http://schemas.microsoft.com/office/powerpoint/2010/main" val="2882899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III: METOT</a:t>
            </a:r>
            <a:endParaRPr lang="tr-TR" dirty="0"/>
          </a:p>
        </p:txBody>
      </p:sp>
      <p:sp>
        <p:nvSpPr>
          <p:cNvPr id="3" name="İçerik Yer Tutucusu 2"/>
          <p:cNvSpPr>
            <a:spLocks noGrp="1"/>
          </p:cNvSpPr>
          <p:nvPr>
            <p:ph idx="1"/>
          </p:nvPr>
        </p:nvSpPr>
        <p:spPr/>
        <p:txBody>
          <a:bodyPr>
            <a:normAutofit lnSpcReduction="10000"/>
          </a:bodyPr>
          <a:lstStyle/>
          <a:p>
            <a:r>
              <a:rPr lang="tr-TR" dirty="0" smtClean="0"/>
              <a:t>Alt-Şapka ve Üst-Şapka dönüşümleri uygulanmıştır. </a:t>
            </a:r>
          </a:p>
          <a:p>
            <a:r>
              <a:rPr lang="tr-TR" dirty="0" smtClean="0"/>
              <a:t>Alt-Şapka=Orijinal Görüntü–Açma Uygulanmış Görüntü</a:t>
            </a:r>
          </a:p>
          <a:p>
            <a:r>
              <a:rPr lang="tr-TR" dirty="0" smtClean="0"/>
              <a:t>Üst-Şapka=Orijinal Görüntü-Kapama Uygulanmış Görüntü</a:t>
            </a:r>
          </a:p>
          <a:p>
            <a:endParaRPr lang="tr-TR" dirty="0"/>
          </a:p>
          <a:p>
            <a:r>
              <a:rPr lang="tr-TR" dirty="0" smtClean="0"/>
              <a:t>Kullanılan </a:t>
            </a:r>
            <a:r>
              <a:rPr lang="tr-TR" dirty="0" err="1" smtClean="0"/>
              <a:t>Eşikleme</a:t>
            </a:r>
            <a:r>
              <a:rPr lang="tr-TR" dirty="0" smtClean="0"/>
              <a:t> Yöntemleri : </a:t>
            </a:r>
          </a:p>
          <a:p>
            <a:r>
              <a:rPr lang="tr-TR" dirty="0" smtClean="0"/>
              <a:t>1. Çok Seviyeli </a:t>
            </a:r>
            <a:r>
              <a:rPr lang="tr-TR" dirty="0" err="1" smtClean="0"/>
              <a:t>Eşikleme</a:t>
            </a:r>
            <a:endParaRPr lang="tr-TR" dirty="0" smtClean="0"/>
          </a:p>
          <a:p>
            <a:r>
              <a:rPr lang="tr-TR" dirty="0" smtClean="0"/>
              <a:t>2. Maksimum </a:t>
            </a:r>
            <a:r>
              <a:rPr lang="tr-TR" dirty="0" err="1" smtClean="0"/>
              <a:t>Entropi</a:t>
            </a:r>
            <a:r>
              <a:rPr lang="tr-TR" dirty="0" smtClean="0"/>
              <a:t> Tabanlı </a:t>
            </a:r>
            <a:r>
              <a:rPr lang="tr-TR" dirty="0" err="1" smtClean="0"/>
              <a:t>Eşikleme</a:t>
            </a:r>
            <a:endParaRPr lang="tr-TR" dirty="0" smtClean="0"/>
          </a:p>
          <a:p>
            <a:r>
              <a:rPr lang="tr-TR" dirty="0" smtClean="0"/>
              <a:t>Bulanık Mantık Tabanlı </a:t>
            </a:r>
            <a:r>
              <a:rPr lang="tr-TR" dirty="0" err="1" smtClean="0"/>
              <a:t>Eşikleme</a:t>
            </a:r>
            <a:endParaRPr lang="tr-TR" dirty="0"/>
          </a:p>
        </p:txBody>
      </p:sp>
    </p:spTree>
    <p:extLst>
      <p:ext uri="{BB962C8B-B14F-4D97-AF65-F5344CB8AC3E}">
        <p14:creationId xmlns:p14="http://schemas.microsoft.com/office/powerpoint/2010/main" val="107173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IV. Yöntem</a:t>
            </a:r>
            <a:endParaRPr lang="tr-TR" dirty="0"/>
          </a:p>
        </p:txBody>
      </p:sp>
      <p:sp>
        <p:nvSpPr>
          <p:cNvPr id="3" name="İçerik Yer Tutucusu 2"/>
          <p:cNvSpPr>
            <a:spLocks noGrp="1"/>
          </p:cNvSpPr>
          <p:nvPr>
            <p:ph idx="1"/>
          </p:nvPr>
        </p:nvSpPr>
        <p:spPr>
          <a:xfrm>
            <a:off x="755576" y="405780"/>
            <a:ext cx="7543800" cy="3886200"/>
          </a:xfrm>
        </p:spPr>
        <p:txBody>
          <a:bodyPr/>
          <a:lstStyle/>
          <a:p>
            <a:r>
              <a:rPr lang="tr-TR" dirty="0" smtClean="0"/>
              <a:t>1. Görüntüye gri seviye dönüşüm </a:t>
            </a:r>
          </a:p>
          <a:p>
            <a:pPr marL="0" indent="0">
              <a:buNone/>
            </a:pPr>
            <a:r>
              <a:rPr lang="tr-TR" dirty="0" smtClean="0"/>
              <a:t>    uygulanır.</a:t>
            </a:r>
          </a:p>
          <a:p>
            <a:r>
              <a:rPr lang="tr-TR" dirty="0" smtClean="0"/>
              <a:t>2. Gri ölçekli görüntü terse çevrilir.</a:t>
            </a:r>
          </a:p>
          <a:p>
            <a:r>
              <a:rPr lang="tr-TR" dirty="0" smtClean="0"/>
              <a:t>Morfolojik İşlemler Uygulanır</a:t>
            </a:r>
            <a:endParaRPr lang="tr-TR" dirty="0"/>
          </a:p>
        </p:txBody>
      </p:sp>
      <p:pic>
        <p:nvPicPr>
          <p:cNvPr id="1026" name="Picture 2" descr="C:\Users\Monster\Pictures\Screenshots\Ekran Görüntüsü (15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548680"/>
            <a:ext cx="2952328" cy="374823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Monster\Pictures\Screenshots\Ekran Görüntüsü (15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432817"/>
            <a:ext cx="4222658" cy="1728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1557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55576" y="1772816"/>
            <a:ext cx="7543800" cy="3751312"/>
          </a:xfrm>
        </p:spPr>
        <p:txBody>
          <a:bodyPr>
            <a:normAutofit fontScale="92500" lnSpcReduction="10000"/>
          </a:bodyPr>
          <a:lstStyle/>
          <a:p>
            <a:r>
              <a:rPr lang="tr-TR" dirty="0" smtClean="0"/>
              <a:t>Görüntüdeki damarı yok etmemesi adına yapısal elemanın uzunluğu, dönme açısı ayarlanmıştır ve en büyük çapa sahip damarı çıkarmak için toplam üst şapka dönüşümü kullanılmıştır.</a:t>
            </a:r>
          </a:p>
          <a:p>
            <a:r>
              <a:rPr lang="tr-TR" dirty="0" smtClean="0"/>
              <a:t>Morfolojik açma işleminin üstüne üst-şapka sonucu eklenerek elde edilen sonuç alt-şapka sonucundan çıkarılmıştır.</a:t>
            </a:r>
          </a:p>
          <a:p>
            <a:r>
              <a:rPr lang="tr-TR" dirty="0" smtClean="0"/>
              <a:t>Toplam morfolojik açma, toplam üst-şapka ve toplam alt-şapka sonuçları işleme(11) alınmıştır. </a:t>
            </a:r>
          </a:p>
          <a:p>
            <a:r>
              <a:rPr lang="tr-TR" dirty="0" smtClean="0"/>
              <a:t>Morfolojik açma işlemi, toplam üst-şapka dönüşümüne eklenmiş ve elde edilen sonuç toplam alt-şapka dönüşümünden çıkarılmıştır. </a:t>
            </a:r>
          </a:p>
          <a:p>
            <a:pPr lvl="1"/>
            <a:endParaRPr lang="tr-TR" dirty="0"/>
          </a:p>
          <a:p>
            <a:endParaRPr lang="tr-TR" dirty="0" smtClean="0"/>
          </a:p>
          <a:p>
            <a:endParaRPr lang="tr-TR" dirty="0"/>
          </a:p>
          <a:p>
            <a:endParaRPr lang="tr-TR" dirty="0" smtClean="0"/>
          </a:p>
          <a:p>
            <a:endParaRPr lang="tr-TR" dirty="0"/>
          </a:p>
          <a:p>
            <a:endParaRPr lang="tr-TR" dirty="0" smtClean="0"/>
          </a:p>
          <a:p>
            <a:endParaRPr lang="tr-TR" dirty="0" smtClean="0"/>
          </a:p>
        </p:txBody>
      </p:sp>
      <p:pic>
        <p:nvPicPr>
          <p:cNvPr id="2050" name="Picture 2" descr="C:\Users\Monster\Pictures\Screenshots\Ekran Görüntüsü (15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499" y="4221089"/>
            <a:ext cx="4577533" cy="194421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Monster\Pictures\Screenshots\Ekran Görüntüsü (15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3897" y="4221088"/>
            <a:ext cx="3202944" cy="1955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443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t>V. BULGULAR VE TARTIŞMA</a:t>
            </a:r>
            <a:endParaRPr lang="tr-TR" dirty="0"/>
          </a:p>
        </p:txBody>
      </p:sp>
      <p:sp>
        <p:nvSpPr>
          <p:cNvPr id="3" name="İçerik Yer Tutucusu 2"/>
          <p:cNvSpPr>
            <a:spLocks noGrp="1"/>
          </p:cNvSpPr>
          <p:nvPr>
            <p:ph idx="1"/>
          </p:nvPr>
        </p:nvSpPr>
        <p:spPr>
          <a:xfrm>
            <a:off x="755576" y="476672"/>
            <a:ext cx="7543800" cy="3886200"/>
          </a:xfrm>
        </p:spPr>
        <p:txBody>
          <a:bodyPr/>
          <a:lstStyle/>
          <a:p>
            <a:r>
              <a:rPr lang="tr-TR" dirty="0" smtClean="0"/>
              <a:t>Farklı </a:t>
            </a:r>
            <a:r>
              <a:rPr lang="tr-TR" dirty="0" err="1" smtClean="0"/>
              <a:t>eşikleme</a:t>
            </a:r>
            <a:r>
              <a:rPr lang="tr-TR" dirty="0" smtClean="0"/>
              <a:t> algoritmaları iyileştirilmiş </a:t>
            </a:r>
            <a:r>
              <a:rPr lang="tr-TR" dirty="0" err="1" smtClean="0"/>
              <a:t>fundus</a:t>
            </a:r>
            <a:r>
              <a:rPr lang="tr-TR" dirty="0" smtClean="0"/>
              <a:t> görüntüleri üzerinde uygulanarak damar </a:t>
            </a:r>
            <a:r>
              <a:rPr lang="tr-TR" dirty="0" err="1" smtClean="0"/>
              <a:t>bölütlenmesi</a:t>
            </a:r>
            <a:r>
              <a:rPr lang="tr-TR" dirty="0" smtClean="0"/>
              <a:t> sağlanmıştır.</a:t>
            </a:r>
          </a:p>
          <a:p>
            <a:r>
              <a:rPr lang="tr-TR" dirty="0" smtClean="0"/>
              <a:t>Daha sonra </a:t>
            </a:r>
            <a:r>
              <a:rPr lang="tr-TR" dirty="0" err="1" smtClean="0"/>
              <a:t>eşiklenmiş</a:t>
            </a:r>
            <a:r>
              <a:rPr lang="tr-TR" dirty="0" smtClean="0"/>
              <a:t> bu görüntüler üzerinde performans iyileştirmesi yapılmıştır.</a:t>
            </a:r>
          </a:p>
          <a:p>
            <a:r>
              <a:rPr lang="tr-TR" dirty="0" smtClean="0"/>
              <a:t>Damara ait olmayan ancak damara benzeyen görüntüler morfolojik işlemler ile yok edilmiştir. </a:t>
            </a:r>
          </a:p>
          <a:p>
            <a:r>
              <a:rPr lang="tr-TR" dirty="0" smtClean="0"/>
              <a:t>Uygulanan yöntemin başarı ölçütünü hesaplamak için aşağıdaki formül uygulanmıştır.</a:t>
            </a:r>
          </a:p>
        </p:txBody>
      </p:sp>
      <p:pic>
        <p:nvPicPr>
          <p:cNvPr id="3074" name="Picture 2" descr="C:\Users\Monster\Pictures\Screenshots\Ekran Görüntüsü (15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4293096"/>
            <a:ext cx="5267326" cy="73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450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Monster\Pictures\Screenshots\Ekran Görüntüsü (15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548680"/>
            <a:ext cx="3924300" cy="54483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Monster\Pictures\Screenshots\Ekran Görüntüsü (15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3892" y="548680"/>
            <a:ext cx="4102621" cy="3257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701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Monster\Pictures\Screenshots\Ekran Görüntüsü (15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764704"/>
            <a:ext cx="3302000" cy="495300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C:\Users\Monster\Pictures\Screenshots\Ekran Görüntüsü (16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875" y="764704"/>
            <a:ext cx="4905375" cy="2809875"/>
          </a:xfrm>
          <a:prstGeom prst="rect">
            <a:avLst/>
          </a:prstGeom>
          <a:noFill/>
          <a:extLst>
            <a:ext uri="{909E8E84-426E-40DD-AFC4-6F175D3DCCD1}">
              <a14:hiddenFill xmlns:a14="http://schemas.microsoft.com/office/drawing/2010/main">
                <a:solidFill>
                  <a:srgbClr val="FFFFFF"/>
                </a:solidFill>
              </a14:hiddenFill>
            </a:ext>
          </a:extLst>
        </p:spPr>
      </p:pic>
      <p:sp>
        <p:nvSpPr>
          <p:cNvPr id="4" name="Metin kutusu 3"/>
          <p:cNvSpPr txBox="1"/>
          <p:nvPr/>
        </p:nvSpPr>
        <p:spPr>
          <a:xfrm>
            <a:off x="4355976" y="3789040"/>
            <a:ext cx="4104456"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tr-TR" b="1" dirty="0" smtClean="0"/>
              <a:t>Önerilen yöntemin performans bakımından daha avantajlı olduğu tabloda görülmektedir.</a:t>
            </a:r>
            <a:endParaRPr lang="tr-TR" b="1" dirty="0"/>
          </a:p>
        </p:txBody>
      </p:sp>
    </p:spTree>
    <p:extLst>
      <p:ext uri="{BB962C8B-B14F-4D97-AF65-F5344CB8AC3E}">
        <p14:creationId xmlns:p14="http://schemas.microsoft.com/office/powerpoint/2010/main" val="3302597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VI. SONUÇ</a:t>
            </a:r>
            <a:endParaRPr lang="tr-TR" dirty="0"/>
          </a:p>
        </p:txBody>
      </p:sp>
      <p:sp>
        <p:nvSpPr>
          <p:cNvPr id="3" name="İçerik Yer Tutucusu 2"/>
          <p:cNvSpPr>
            <a:spLocks noGrp="1"/>
          </p:cNvSpPr>
          <p:nvPr>
            <p:ph idx="1"/>
          </p:nvPr>
        </p:nvSpPr>
        <p:spPr/>
        <p:txBody>
          <a:bodyPr/>
          <a:lstStyle/>
          <a:p>
            <a:r>
              <a:rPr lang="tr-TR" dirty="0" smtClean="0"/>
              <a:t>DRIVE seti üzerinde morfolojik işlemlere dayalı bir damar iyileştirme yöntemi kullanılmıştır. </a:t>
            </a:r>
          </a:p>
          <a:p>
            <a:r>
              <a:rPr lang="tr-TR" dirty="0" smtClean="0"/>
              <a:t>Daha sonra, Çoklu </a:t>
            </a:r>
            <a:r>
              <a:rPr lang="tr-TR" dirty="0" err="1" smtClean="0"/>
              <a:t>Eşikleme</a:t>
            </a:r>
            <a:r>
              <a:rPr lang="tr-TR" dirty="0" smtClean="0"/>
              <a:t>, Bulanık Mantık Tabanlı </a:t>
            </a:r>
            <a:r>
              <a:rPr lang="tr-TR" dirty="0" err="1" smtClean="0"/>
              <a:t>Eşikleme</a:t>
            </a:r>
            <a:r>
              <a:rPr lang="tr-TR" dirty="0" smtClean="0"/>
              <a:t> ve Maksimum </a:t>
            </a:r>
            <a:r>
              <a:rPr lang="tr-TR" dirty="0" err="1" smtClean="0"/>
              <a:t>Eşikleme</a:t>
            </a:r>
            <a:r>
              <a:rPr lang="tr-TR" dirty="0" smtClean="0"/>
              <a:t> yöntemleri ile damar </a:t>
            </a:r>
            <a:r>
              <a:rPr lang="tr-TR" dirty="0" err="1" smtClean="0"/>
              <a:t>bölütlemesi</a:t>
            </a:r>
            <a:r>
              <a:rPr lang="tr-TR" dirty="0" smtClean="0"/>
              <a:t> yapılmıştır.</a:t>
            </a:r>
          </a:p>
          <a:p>
            <a:r>
              <a:rPr lang="tr-TR" dirty="0" smtClean="0"/>
              <a:t>Farklı </a:t>
            </a:r>
            <a:r>
              <a:rPr lang="tr-TR" dirty="0" err="1" smtClean="0"/>
              <a:t>eşikleme</a:t>
            </a:r>
            <a:r>
              <a:rPr lang="tr-TR" dirty="0" smtClean="0"/>
              <a:t> yöntemlerinin aynı görüntü üzerinde farklı sonuçlar verdiği gözlemlenmiştir.</a:t>
            </a:r>
          </a:p>
          <a:p>
            <a:r>
              <a:rPr lang="tr-TR" dirty="0" smtClean="0"/>
              <a:t>Halka açık veri seti kullanıldığı için karşılaştırılması, doğruluğu </a:t>
            </a:r>
            <a:r>
              <a:rPr lang="tr-TR" smtClean="0"/>
              <a:t>test edilebilirdir.</a:t>
            </a:r>
          </a:p>
        </p:txBody>
      </p:sp>
    </p:spTree>
    <p:extLst>
      <p:ext uri="{BB962C8B-B14F-4D97-AF65-F5344CB8AC3E}">
        <p14:creationId xmlns:p14="http://schemas.microsoft.com/office/powerpoint/2010/main" val="17800565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174</TotalTime>
  <Words>408</Words>
  <Application>Microsoft Office PowerPoint</Application>
  <PresentationFormat>Ekran Gösterisi (4:3)</PresentationFormat>
  <Paragraphs>44</Paragraphs>
  <Slides>10</Slides>
  <Notes>0</Notes>
  <HiddenSlides>0</HiddenSlides>
  <MMClips>0</MMClips>
  <ScaleCrop>false</ScaleCrop>
  <HeadingPairs>
    <vt:vector size="4" baseType="variant">
      <vt:variant>
        <vt:lpstr>Tema</vt:lpstr>
      </vt:variant>
      <vt:variant>
        <vt:i4>1</vt:i4>
      </vt:variant>
      <vt:variant>
        <vt:lpstr>Slayt Başlıkları</vt:lpstr>
      </vt:variant>
      <vt:variant>
        <vt:i4>10</vt:i4>
      </vt:variant>
    </vt:vector>
  </HeadingPairs>
  <TitlesOfParts>
    <vt:vector size="11" baseType="lpstr">
      <vt:lpstr>NewsPrint</vt:lpstr>
      <vt:lpstr>Retina Kan Damarlarını Çıkarmak İçin Eşikleme Temelli Morfolojik Yöntem</vt:lpstr>
      <vt:lpstr>I. ÖZET</vt:lpstr>
      <vt:lpstr>II. GİRİŞ</vt:lpstr>
      <vt:lpstr>III: METOT</vt:lpstr>
      <vt:lpstr>IV. Yöntem</vt:lpstr>
      <vt:lpstr>PowerPoint Sunusu</vt:lpstr>
      <vt:lpstr>V. BULGULAR VE TARTIŞMA</vt:lpstr>
      <vt:lpstr>PowerPoint Sunusu</vt:lpstr>
      <vt:lpstr>PowerPoint Sunusu</vt:lpstr>
      <vt:lpstr>VI. SONUÇ</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Retina Kan Damarlarını Çıkarmak İçin Eşikleme Temelli Morfolojik Yöntem</dc:title>
  <dc:creator>Emrah ERTAN</dc:creator>
  <cp:lastModifiedBy>Monster</cp:lastModifiedBy>
  <cp:revision>20</cp:revision>
  <dcterms:created xsi:type="dcterms:W3CDTF">2022-12-09T12:38:51Z</dcterms:created>
  <dcterms:modified xsi:type="dcterms:W3CDTF">2022-12-09T19:59:11Z</dcterms:modified>
</cp:coreProperties>
</file>