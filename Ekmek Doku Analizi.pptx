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9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4.11.2022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3568" y="1340768"/>
            <a:ext cx="7772400" cy="1470025"/>
          </a:xfrm>
        </p:spPr>
        <p:txBody>
          <a:bodyPr>
            <a:normAutofit/>
          </a:bodyPr>
          <a:lstStyle/>
          <a:p>
            <a:r>
              <a:rPr lang="tr-TR" dirty="0" smtClean="0"/>
              <a:t>GÖRÜNTÜ İŞLEME 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accent1"/>
                </a:solidFill>
              </a:rPr>
              <a:t>Görüntü işleme teknikleri kullanılarak ekmek doku analizi ve </a:t>
            </a:r>
            <a:r>
              <a:rPr lang="tr-TR" dirty="0" err="1">
                <a:solidFill>
                  <a:schemeClr val="accent1"/>
                </a:solidFill>
              </a:rPr>
              <a:t>arayüz</a:t>
            </a:r>
            <a:r>
              <a:rPr lang="tr-TR" dirty="0">
                <a:solidFill>
                  <a:schemeClr val="accent1"/>
                </a:solidFill>
              </a:rPr>
              <a:t> programının geliştirilmesi </a:t>
            </a:r>
          </a:p>
        </p:txBody>
      </p:sp>
    </p:spTree>
    <p:extLst>
      <p:ext uri="{BB962C8B-B14F-4D97-AF65-F5344CB8AC3E}">
        <p14:creationId xmlns:p14="http://schemas.microsoft.com/office/powerpoint/2010/main" val="189998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tr-TR" dirty="0" smtClean="0">
                <a:solidFill>
                  <a:schemeClr val="accent1"/>
                </a:solidFill>
              </a:rPr>
              <a:t>Çalışmanın Amacı</a:t>
            </a:r>
            <a:endParaRPr lang="tr-TR" dirty="0">
              <a:solidFill>
                <a:schemeClr val="accent1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/>
              <a:t>Bu çalışmada DATEM (</a:t>
            </a:r>
            <a:r>
              <a:rPr lang="tr-TR" sz="2400" dirty="0" err="1"/>
              <a:t>Diacetil</a:t>
            </a:r>
            <a:r>
              <a:rPr lang="tr-TR" sz="2400" dirty="0"/>
              <a:t> </a:t>
            </a:r>
            <a:r>
              <a:rPr lang="tr-TR" sz="2400" dirty="0" err="1"/>
              <a:t>tartaric</a:t>
            </a:r>
            <a:r>
              <a:rPr lang="tr-TR" sz="2400" dirty="0"/>
              <a:t> </a:t>
            </a:r>
            <a:r>
              <a:rPr lang="tr-TR" sz="2400" dirty="0" err="1"/>
              <a:t>esters</a:t>
            </a:r>
            <a:r>
              <a:rPr lang="tr-TR" sz="2400" dirty="0"/>
              <a:t> of </a:t>
            </a:r>
            <a:r>
              <a:rPr lang="tr-TR" sz="2400" dirty="0" err="1"/>
              <a:t>monogliserid</a:t>
            </a:r>
            <a:r>
              <a:rPr lang="tr-TR" sz="2400" dirty="0"/>
              <a:t>) katkı maddesinin, </a:t>
            </a:r>
            <a:r>
              <a:rPr lang="tr-TR" sz="2400" dirty="0" err="1"/>
              <a:t>fosfolipaz</a:t>
            </a:r>
            <a:r>
              <a:rPr lang="tr-TR" sz="2400" dirty="0"/>
              <a:t> (FL) enziminin ve </a:t>
            </a:r>
            <a:r>
              <a:rPr lang="tr-TR" sz="2400" dirty="0" err="1"/>
              <a:t>glikolipaz</a:t>
            </a:r>
            <a:r>
              <a:rPr lang="tr-TR" sz="2400" dirty="0"/>
              <a:t> (GL) enziminin doğrudan ekmek yapım yöntemiyle üretilmiş ekmeklerdeki kaliteye olan </a:t>
            </a:r>
            <a:r>
              <a:rPr lang="tr-TR" sz="2400" dirty="0" smtClean="0"/>
              <a:t>etkisi gözlemlenmiştir.  Görüntü işleme teknikleri ile ekmek kalitesi analizi yapılması amaçlanmıştır. 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4848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accent1"/>
                </a:solidFill>
              </a:rPr>
              <a:t>Çalışma ile İlgili</a:t>
            </a:r>
            <a:endParaRPr lang="tr-TR" dirty="0">
              <a:solidFill>
                <a:schemeClr val="accent1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smtClean="0"/>
              <a:t>Makalede, kalitesi yetersiz olan ekmeklerin pişirildiğinde daha hacimsiz ve düzensiz gözeneklerden oluştuğu, kalitesi yeterli olan ekmeklerin ise pişirildiğinde daha hacimli , yumuşak olduğu gözlemlendiği yazmaktadır. </a:t>
            </a:r>
          </a:p>
          <a:p>
            <a:r>
              <a:rPr lang="tr-TR" sz="2400" dirty="0" smtClean="0"/>
              <a:t>Bu çalışma için oluşturulan yazılımda, ekmek yapısına yönelik gözenek sayısı, yoğunluğu, alanı, boşluk oranı gibi değerlerin elde edildiği belirtilmiştir.</a:t>
            </a:r>
          </a:p>
          <a:p>
            <a:endParaRPr lang="tr-TR" sz="2400" dirty="0" smtClean="0"/>
          </a:p>
          <a:p>
            <a:endParaRPr lang="tr-TR" sz="2400" dirty="0" smtClean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0167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11552" y="1196752"/>
            <a:ext cx="4032448" cy="4929411"/>
          </a:xfrm>
        </p:spPr>
        <p:txBody>
          <a:bodyPr>
            <a:normAutofit fontScale="92500"/>
          </a:bodyPr>
          <a:lstStyle/>
          <a:p>
            <a:r>
              <a:rPr lang="tr-TR" sz="2400" dirty="0" smtClean="0"/>
              <a:t>İlk olarak Ekmek görüntüsü gri seviyeye dönüştürülmüştür.</a:t>
            </a:r>
          </a:p>
          <a:p>
            <a:r>
              <a:rPr lang="tr-TR" sz="2400" dirty="0" err="1" smtClean="0"/>
              <a:t>Histogram</a:t>
            </a:r>
            <a:r>
              <a:rPr lang="tr-TR" sz="2400" dirty="0" smtClean="0"/>
              <a:t> Germe uygulanmıştır ve gözenek belirginliği artırılmıştır.</a:t>
            </a:r>
          </a:p>
          <a:p>
            <a:pPr marL="0" indent="0">
              <a:buNone/>
            </a:pPr>
            <a:r>
              <a:rPr lang="tr-TR" sz="2000" dirty="0"/>
              <a:t> (</a:t>
            </a:r>
            <a:r>
              <a:rPr lang="tr-TR" sz="2000" dirty="0" smtClean="0"/>
              <a:t>Makalede bahsedilen </a:t>
            </a:r>
            <a:r>
              <a:rPr lang="tr-TR" sz="2000" dirty="0" err="1" smtClean="0"/>
              <a:t>Adaptif</a:t>
            </a:r>
            <a:r>
              <a:rPr lang="tr-TR" sz="2000" dirty="0" smtClean="0"/>
              <a:t> </a:t>
            </a:r>
            <a:r>
              <a:rPr lang="tr-TR" sz="2000" dirty="0" err="1" smtClean="0"/>
              <a:t>histogram</a:t>
            </a:r>
            <a:r>
              <a:rPr lang="tr-TR" sz="2000" dirty="0" smtClean="0"/>
              <a:t> eşitleme olarak da bilinen </a:t>
            </a:r>
            <a:r>
              <a:rPr lang="tr-TR" sz="2000" dirty="0" err="1" smtClean="0"/>
              <a:t>histogram</a:t>
            </a:r>
            <a:r>
              <a:rPr lang="tr-TR" sz="2000" dirty="0" smtClean="0"/>
              <a:t> germe, düşük kontrastlı görüntülere uygulanan, </a:t>
            </a:r>
            <a:r>
              <a:rPr lang="tr-TR" sz="2000" dirty="0" err="1" smtClean="0"/>
              <a:t>histogramı</a:t>
            </a:r>
            <a:r>
              <a:rPr lang="tr-TR" sz="2000" dirty="0" smtClean="0"/>
              <a:t> geniş bir bölgeye yayan bir yöntemdir. )</a:t>
            </a:r>
          </a:p>
          <a:p>
            <a:r>
              <a:rPr lang="tr-TR" sz="2400" dirty="0" err="1" smtClean="0"/>
              <a:t>Histogram</a:t>
            </a:r>
            <a:r>
              <a:rPr lang="tr-TR" sz="2400" dirty="0" smtClean="0"/>
              <a:t> eşitleme uygulanmıştır. Ekmek dokuları daha açık, gözenekler daha koyu hale getirilmiştir.</a:t>
            </a:r>
          </a:p>
          <a:p>
            <a:endParaRPr lang="tr-TR" sz="2400" dirty="0" smtClean="0"/>
          </a:p>
          <a:p>
            <a:endParaRPr lang="tr-TR" sz="2400" dirty="0" smtClean="0"/>
          </a:p>
        </p:txBody>
      </p:sp>
      <p:sp>
        <p:nvSpPr>
          <p:cNvPr id="4" name="Başlık 1"/>
          <p:cNvSpPr>
            <a:spLocks noGrp="1"/>
          </p:cNvSpPr>
          <p:nvPr>
            <p:ph type="title"/>
          </p:nvPr>
        </p:nvSpPr>
        <p:spPr>
          <a:xfrm>
            <a:off x="3491880" y="116632"/>
            <a:ext cx="5652120" cy="864096"/>
          </a:xfrm>
        </p:spPr>
        <p:txBody>
          <a:bodyPr/>
          <a:lstStyle/>
          <a:p>
            <a:r>
              <a:rPr lang="tr-TR" dirty="0" smtClean="0">
                <a:solidFill>
                  <a:schemeClr val="accent1"/>
                </a:solidFill>
              </a:rPr>
              <a:t>Ön İşleme</a:t>
            </a:r>
            <a:endParaRPr lang="tr-TR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C:\Users\Monster\Pictures\Screenshots\Ekran Görüntüsü (104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8306"/>
            <a:ext cx="3461685" cy="3375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Monster\Pictures\Screenshots\Ekran Görüntüsü (103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2" y="3501008"/>
            <a:ext cx="3006082" cy="324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79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onster\Pictures\Screenshots\Ekran Görüntüsü (10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79" y="44624"/>
            <a:ext cx="3528392" cy="344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Monster\Pictures\Screenshots\Ekran Görüntüsü (105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25" y="0"/>
            <a:ext cx="350591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Monster\Pictures\Screenshots\Ekran Görüntüsü (100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69814"/>
            <a:ext cx="2899394" cy="313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ağ Ok 3"/>
          <p:cNvSpPr/>
          <p:nvPr/>
        </p:nvSpPr>
        <p:spPr>
          <a:xfrm>
            <a:off x="3923928" y="1412776"/>
            <a:ext cx="1080120" cy="355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Aşağı Ok 4"/>
          <p:cNvSpPr/>
          <p:nvPr/>
        </p:nvSpPr>
        <p:spPr>
          <a:xfrm>
            <a:off x="6876256" y="3429000"/>
            <a:ext cx="484924" cy="281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053" name="Picture 5" descr="C:\Users\Monster\Pictures\Screenshots\Ekran Görüntüsü (106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287" y="3710628"/>
            <a:ext cx="3052861" cy="30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ağ Ok 10"/>
          <p:cNvSpPr/>
          <p:nvPr/>
        </p:nvSpPr>
        <p:spPr>
          <a:xfrm rot="10800000">
            <a:off x="3897028" y="4959484"/>
            <a:ext cx="1080120" cy="355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4860032" y="3385146"/>
            <a:ext cx="214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Histogram</a:t>
            </a:r>
            <a:r>
              <a:rPr lang="tr-TR" dirty="0" smtClean="0"/>
              <a:t> Eşitleme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53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chemeClr val="accent1"/>
                </a:solidFill>
              </a:rPr>
              <a:t>Bölütleme</a:t>
            </a:r>
            <a:endParaRPr lang="tr-TR" dirty="0">
              <a:solidFill>
                <a:schemeClr val="accent1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smtClean="0"/>
              <a:t>Otsu yöntemi kullanılarak eldeki görüntü ikili görüntüye dönüştürülmüştür. </a:t>
            </a:r>
          </a:p>
          <a:p>
            <a:r>
              <a:rPr lang="tr-TR" sz="2400" dirty="0" smtClean="0"/>
              <a:t>Bağlantılı Bileşen Etiketleme Yöntemi uygulanmıştır.</a:t>
            </a:r>
          </a:p>
          <a:p>
            <a:pPr marL="0" indent="0">
              <a:buNone/>
            </a:pPr>
            <a:r>
              <a:rPr lang="tr-TR" sz="2400" dirty="0" smtClean="0"/>
              <a:t>     (Siyah-beyaz görüntülere uygulanan bu yöntem, piksellerin gruplanmasında kullanılmaktadır.)</a:t>
            </a:r>
            <a:endParaRPr lang="tr-TR" sz="2000" dirty="0"/>
          </a:p>
          <a:p>
            <a:r>
              <a:rPr lang="tr-TR" sz="2400" dirty="0" smtClean="0"/>
              <a:t>Gözenekler, büyüklüklerine göre renklendirilmiştir.</a:t>
            </a:r>
          </a:p>
          <a:p>
            <a:r>
              <a:rPr lang="tr-TR" sz="2400" dirty="0" smtClean="0"/>
              <a:t>Elle </a:t>
            </a:r>
            <a:r>
              <a:rPr lang="tr-TR" sz="2400" dirty="0" err="1" smtClean="0"/>
              <a:t>bölütleme</a:t>
            </a:r>
            <a:r>
              <a:rPr lang="tr-TR" sz="2400" dirty="0" smtClean="0"/>
              <a:t> de yapılarak sonuçlar karşılaştırılmıştır.</a:t>
            </a:r>
          </a:p>
          <a:p>
            <a:r>
              <a:rPr lang="tr-TR" sz="2400" dirty="0" err="1" smtClean="0"/>
              <a:t>Matlab</a:t>
            </a:r>
            <a:r>
              <a:rPr lang="tr-TR" sz="2400" dirty="0" smtClean="0"/>
              <a:t> GUI Kullanılarak çalışma için </a:t>
            </a:r>
            <a:r>
              <a:rPr lang="tr-TR" sz="2400" dirty="0" err="1" smtClean="0"/>
              <a:t>arayüz</a:t>
            </a:r>
            <a:r>
              <a:rPr lang="tr-TR" sz="2400" dirty="0" smtClean="0"/>
              <a:t> oluşturulmuştur.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42286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onster\Pictures\Screenshots\Ekran Görüntüsü (99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3384376" cy="361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Monster\Pictures\Screenshots\Ekran Görüntüsü (107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39" y="1268760"/>
            <a:ext cx="3323161" cy="374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ağ Ok 3"/>
          <p:cNvSpPr/>
          <p:nvPr/>
        </p:nvSpPr>
        <p:spPr>
          <a:xfrm>
            <a:off x="3779912" y="2708920"/>
            <a:ext cx="1872208" cy="432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178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onster\Pictures\Screenshots\Ekran Görüntüsü (108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3422650" cy="578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Monster\Pictures\Screenshots\Ekran Görüntüsü (98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260648"/>
            <a:ext cx="5114925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31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226</Words>
  <Application>Microsoft Office PowerPoint</Application>
  <PresentationFormat>Ekran Gösterisi (4:3)</PresentationFormat>
  <Paragraphs>21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Ofis Teması</vt:lpstr>
      <vt:lpstr>GÖRÜNTÜ İŞLEME </vt:lpstr>
      <vt:lpstr>Çalışmanın Amacı</vt:lpstr>
      <vt:lpstr>Çalışma ile İlgili</vt:lpstr>
      <vt:lpstr>Ön İşleme</vt:lpstr>
      <vt:lpstr>PowerPoint Sunusu</vt:lpstr>
      <vt:lpstr>Bölütleme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GÖRÜNTÜ İŞLEME </dc:title>
  <dc:creator>Emrah ERTAN</dc:creator>
  <cp:lastModifiedBy>Monster</cp:lastModifiedBy>
  <cp:revision>20</cp:revision>
  <dcterms:created xsi:type="dcterms:W3CDTF">2022-11-02T16:29:57Z</dcterms:created>
  <dcterms:modified xsi:type="dcterms:W3CDTF">2022-11-04T17:00:28Z</dcterms:modified>
</cp:coreProperties>
</file>